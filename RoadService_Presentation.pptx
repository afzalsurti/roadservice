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5400">
                <a:solidFill>
                  <a:srgbClr val="E8EEF6"/>
                </a:solidFill>
                <a:latin typeface="Calibri"/>
              </a:defRPr>
            </a:pPr>
            <a:r>
              <a:t>RoadService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B9EFF"/>
                </a:solidFill>
              </a:defRPr>
            </a:pPr>
            <a:r>
              <a:t>Road Issue Management System</a:t>
            </a:r>
          </a:p>
          <a:p>
            <a:pPr>
              <a:defRPr sz="1600">
                <a:solidFill>
                  <a:srgbClr val="8B9BB0"/>
                </a:solidFill>
              </a:defRPr>
            </a:pPr>
            <a:r>
              <a:t>Survey → Repair → Verify → Close  |  Web + Mobile  |  Photo + GPS proof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E8EEF6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8EEF6"/>
                </a:solidFill>
              </a:defRPr>
            </a:pPr>
            <a:r>
              <a:t>•  Multi-role workflow: Surveyor, Contractor, Admin, Government (view-only)</a:t>
            </a:r>
          </a:p>
          <a:p>
            <a:pPr>
              <a:spcAft>
                <a:spcPts val="1200"/>
              </a:spcAft>
              <a:defRPr sz="1800">
                <a:solidFill>
                  <a:srgbClr val="E8EEF6"/>
                </a:solidFill>
              </a:defRPr>
            </a:pPr>
            <a:r>
              <a:t>•  Photo evidence at every stage: before → after submit → final closed</a:t>
            </a:r>
          </a:p>
          <a:p>
            <a:pPr>
              <a:spcAft>
                <a:spcPts val="1200"/>
              </a:spcAft>
              <a:defRPr sz="1800">
                <a:solidFill>
                  <a:srgbClr val="E8EEF6"/>
                </a:solidFill>
              </a:defRPr>
            </a:pPr>
            <a:r>
              <a:t>•  Notifications: assign, submit ready, reject/rework, 24h verification warning</a:t>
            </a:r>
          </a:p>
          <a:p>
            <a:pPr>
              <a:spcAft>
                <a:spcPts val="1200"/>
              </a:spcAft>
              <a:defRPr sz="1800">
                <a:solidFill>
                  <a:srgbClr val="E8EEF6"/>
                </a:solidFill>
              </a:defRPr>
            </a:pPr>
            <a:r>
              <a:t>•  One-tap contractor actions from list + notification deep-links</a:t>
            </a:r>
          </a:p>
          <a:p>
            <a:pPr>
              <a:spcAft>
                <a:spcPts val="1200"/>
              </a:spcAft>
              <a:defRPr sz="1800">
                <a:solidFill>
                  <a:srgbClr val="E8EEF6"/>
                </a:solidFill>
              </a:defRPr>
            </a:pPr>
            <a:r>
              <a:t>•  Offline mobile capture with later sync when network returns</a:t>
            </a:r>
          </a:p>
          <a:p>
            <a:pPr>
              <a:spcAft>
                <a:spcPts val="1200"/>
              </a:spcAft>
              <a:defRPr sz="1800">
                <a:solidFill>
                  <a:srgbClr val="E8EEF6"/>
                </a:solidFill>
              </a:defRPr>
            </a:pPr>
            <a:r>
              <a:t>•  Map, analytics, Excel/PDF reports for oversight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E8EEF6"/>
                </a:solidFill>
                <a:latin typeface="Calibri"/>
              </a:defRPr>
            </a:pPr>
            <a:r>
              <a:t>Landing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BB0"/>
                </a:solidFill>
              </a:defRPr>
            </a:pPr>
            <a:r>
              <a:t>Public entry point with brand-first hero and sign-in CTAs.</a:t>
            </a:r>
          </a:p>
        </p:txBody>
      </p:sp>
      <p:pic>
        <p:nvPicPr>
          <p:cNvPr id="4" name="Picture 3" descr="sho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E8EEF6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BB0"/>
                </a:solidFill>
              </a:defRPr>
            </a:pPr>
            <a:r>
              <a:t>Live KPIs for open, in-progress, verification, and closed issues.</a:t>
            </a:r>
          </a:p>
        </p:txBody>
      </p:sp>
      <p:pic>
        <p:nvPicPr>
          <p:cNvPr id="4" name="Picture 3" descr="sho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E8EEF6"/>
                </a:solidFill>
                <a:latin typeface="Calibri"/>
              </a:defRPr>
            </a:pPr>
            <a:r>
              <a:t>Issues + photo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BB0"/>
                </a:solidFill>
              </a:defRPr>
            </a:pPr>
            <a:r>
              <a:t>Surveyor before, contractor submit, and final closed photos.</a:t>
            </a:r>
          </a:p>
        </p:txBody>
      </p:sp>
      <p:pic>
        <p:nvPicPr>
          <p:cNvPr id="4" name="Picture 3" descr="shot-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E8EEF6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BB0"/>
                </a:solidFill>
              </a:defRPr>
            </a:pPr>
            <a:r>
              <a:t>Assign, submit, reject, and 24h verification warnings.</a:t>
            </a:r>
          </a:p>
        </p:txBody>
      </p:sp>
      <p:pic>
        <p:nvPicPr>
          <p:cNvPr id="4" name="Picture 3" descr="shot-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E8EEF6"/>
                </a:solidFill>
                <a:latin typeface="Calibri"/>
              </a:defRPr>
            </a:pPr>
            <a:r>
              <a:t>Mobile contractor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BB0"/>
                </a:solidFill>
              </a:defRPr>
            </a:pPr>
            <a:r>
              <a:t>One-tap Start / Submit / View comments + offline capture sync.</a:t>
            </a:r>
          </a:p>
        </p:txBody>
      </p:sp>
      <p:pic>
        <p:nvPicPr>
          <p:cNvPr id="4" name="Picture 3" descr="shot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E8EEF6"/>
                </a:solidFill>
                <a:latin typeface="Calibri"/>
              </a:defRPr>
            </a:pPr>
            <a:r>
              <a:t>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9EFF"/>
                </a:solidFill>
              </a:defRPr>
            </a:pPr>
            <a:r>
              <a:t>1. Report</a:t>
            </a:r>
          </a:p>
          <a:p>
            <a:pPr>
              <a:spcAft>
                <a:spcPts val="1400"/>
              </a:spcAft>
              <a:defRPr sz="1600">
                <a:solidFill>
                  <a:srgbClr val="E8EEF6"/>
                </a:solidFill>
              </a:defRPr>
            </a:pPr>
            <a:r>
              <a:t>Surveyor captures defect + GPS + before photo (mobile)</a:t>
            </a:r>
          </a:p>
          <a:p>
            <a:pPr>
              <a:defRPr sz="2000" b="1">
                <a:solidFill>
                  <a:srgbClr val="3B9EFF"/>
                </a:solidFill>
              </a:defRPr>
            </a:pPr>
            <a:r>
              <a:t>2. Assign</a:t>
            </a:r>
          </a:p>
          <a:p>
            <a:pPr>
              <a:spcAft>
                <a:spcPts val="1400"/>
              </a:spcAft>
              <a:defRPr sz="1600">
                <a:solidFill>
                  <a:srgbClr val="E8EEF6"/>
                </a:solidFill>
              </a:defRPr>
            </a:pPr>
            <a:r>
              <a:t>Contractor gets notification and starts work in one tap</a:t>
            </a:r>
          </a:p>
          <a:p>
            <a:pPr>
              <a:defRPr sz="2000" b="1">
                <a:solidFill>
                  <a:srgbClr val="3B9EFF"/>
                </a:solidFill>
              </a:defRPr>
            </a:pPr>
            <a:r>
              <a:t>3. Repair</a:t>
            </a:r>
          </a:p>
          <a:p>
            <a:pPr>
              <a:spcAft>
                <a:spcPts val="1400"/>
              </a:spcAft>
              <a:defRPr sz="1600">
                <a:solidFill>
                  <a:srgbClr val="E8EEF6"/>
                </a:solidFill>
              </a:defRPr>
            </a:pPr>
            <a:r>
              <a:t>Contractor submits camera proof + remarks (offline-safe)</a:t>
            </a:r>
          </a:p>
          <a:p>
            <a:pPr>
              <a:defRPr sz="2000" b="1">
                <a:solidFill>
                  <a:srgbClr val="3B9EFF"/>
                </a:solidFill>
              </a:defRPr>
            </a:pPr>
            <a:r>
              <a:t>4. Verify</a:t>
            </a:r>
          </a:p>
          <a:p>
            <a:pPr>
              <a:spcAft>
                <a:spcPts val="1400"/>
              </a:spcAft>
              <a:defRPr sz="1600">
                <a:solidFill>
                  <a:srgbClr val="E8EEF6"/>
                </a:solidFill>
              </a:defRPr>
            </a:pPr>
            <a:r>
              <a:t>Surveyor/Admin approve or reject within 24 hours</a:t>
            </a:r>
          </a:p>
          <a:p>
            <a:pPr>
              <a:defRPr sz="2000" b="1">
                <a:solidFill>
                  <a:srgbClr val="3B9EFF"/>
                </a:solidFill>
              </a:defRPr>
            </a:pPr>
            <a:r>
              <a:t>5. Close</a:t>
            </a:r>
          </a:p>
          <a:p>
            <a:pPr>
              <a:spcAft>
                <a:spcPts val="1400"/>
              </a:spcAft>
              <a:defRPr sz="1600">
                <a:solidFill>
                  <a:srgbClr val="E8EEF6"/>
                </a:solidFill>
              </a:defRPr>
            </a:pPr>
            <a:r>
              <a:t>Final verification photo stored; Government sees full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E8EEF6"/>
                </a:solidFill>
                <a:latin typeface="Calibri"/>
              </a:defRPr>
            </a:pPr>
            <a:r>
              <a:t>Accountability with proof</a:t>
            </a:r>
          </a:p>
          <a:p>
            <a:pPr algn="l">
              <a:defRPr sz="1800">
                <a:solidFill>
                  <a:srgbClr val="8B9BB0"/>
                </a:solidFill>
              </a:defRPr>
            </a:pPr>
            <a:r>
              <a:t>Every road issue has owners, timestamps, GPS, and photos — from survey to close.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